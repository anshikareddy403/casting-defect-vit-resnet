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6B1BFC9-996E-59C0-4813-1A9BA2E3B160}">
          <p14:sldIdLst>
            <p14:sldId id="256"/>
          </p14:sldIdLst>
        </p14:section>
        <p14:section name="Study" id="{AC553C26-9B7E-5D46-A666-EA96F0A02C7A}">
          <p14:sldIdLst>
            <p14:sldId id="257"/>
            <p14:sldId id="258"/>
          </p14:sldIdLst>
        </p14:section>
        <p14:section name="Findings" id="{25D7674F-ED53-CFE2-4922-1ED3E19185CF}">
          <p14:sldIdLst>
            <p14:sldId id="259"/>
            <p14:sldId id="260"/>
          </p14:sldIdLst>
        </p14:section>
        <p14:section name="Reflection" id="{E972CFB9-D91A-DAED-DF36-500DA5329CE1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144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Introduce yourself and the project: a controlled comparison of a Vision Transformer and a CNN for casting defect classification when labelled data is reduced.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(~20 s) Read the research question. Quality inspection needs a quick yes/no decision and defect labels are scarce, so we ask whether a ViT holds up better than a CNN as labelled data shrinks. Mention the fixed 715-image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(~35 s) Top-view photographs of cast impellers, split into train, validation and a fixed test set. Both models start from ImageNet weights and share the same pre-processing and training protocol, so the only variables are architecture and training-set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Accuracy is near ceiling for both models, between 99.4% and 99.7%. At 50% and 25% of the training data ResNet is slightly ahead on accuracy and macro-F1. The real difference is cost: ResNet is about 43 MB and under 1 ms per image, ViT about 327 MB and around 12 ms. Defect recall matters most because a missed defect is the costly error; there were one to three per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(~25 s) Show the Streamlit app: upload an impeller image, read the class scores, view the Grad-CAM overlay, and open the Results page. It runs locally with: streamlit run streamlit_app.py.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(~25 s) Challenges were mostly practical: Colab sessions, CSV logging, Grad-CAM in Streamlit and GPU time for ViT. Main limitations: one product and lighting setup, very high scores, and a single seed. Next steps: multiple seeds, edge deployment, ViT attention maps and a new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(~20 s) Both models work well. With limited labels or edge hardware, ResNet-18 matched or beat ViT at far lower cost; ViT is reasonable when full data and GPU time are available. Thank the audience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097280"/>
            <a:ext cx="49377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743200"/>
            <a:ext cx="49377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2"/>
                </a:solidFill>
              </a:rPr>
              <a:t>MAAI901 · Anshika Reddy Annapureddy · 1651353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39" y="1097280"/>
            <a:ext cx="819041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800" b="1" dirty="0">
                <a:solidFill>
                  <a:schemeClr val="tx1"/>
                </a:solidFill>
              </a:rPr>
              <a:t>Data-Efficient Visual Quality Inspection</a:t>
            </a: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2103120" y="2867297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ViT-B/16 vs ResNet-18 for casting defect classification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Anshika Reddy Annapureddy · 1651353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MAAI901 · University of Wollongong in Dubai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Instructor: Dr. Milan Dordevic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Research question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Vision Transformers (ViT) outperform Convolutional Neural Networks (CNN) for defect classification when trained on a small dataset?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Casting lines need a fast accept/reject decision on each impeller.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Fine-tune ViT-B/16 and ResNet-18 on the same Kaggle casting dataset at 100%, 50% and 25% of the training pool.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Evaluate every run on one fixed test set of 715 images.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 and Methodology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Dataset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826725" y="1143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Method</a:t>
            </a:r>
            <a:endParaRPr lang="en-US" sz="1600" dirty="0"/>
          </a:p>
        </p:txBody>
      </p:sp>
      <p:pic>
        <p:nvPicPr>
          <p:cNvPr id="5" name="Image 0" descr="Acceptable impell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1554480" cy="1554480"/>
          </a:xfrm>
          <a:prstGeom prst="rect">
            <a:avLst/>
          </a:prstGeom>
        </p:spPr>
      </p:pic>
      <p:pic>
        <p:nvPicPr>
          <p:cNvPr id="6" name="Image 1" descr="Defective impell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962" y="15544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1363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Acceptable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2641962" y="31363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2"/>
                </a:solidFill>
              </a:rPr>
              <a:t>Defective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47472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Kaggle Casting Product Image Data (CC BY-SA 4.0)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Train pool 5,638, validation 995, Test 715 (262 acceptable, 453 defective)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Augmented copies grouped by filename to prevent leakage.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826725" y="1741932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ImageNet-pretrained ViT-B/16 and ResNet-18.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224×224 RGB, ImageNet normalisation; flip and ±10° rotation on training images only.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Seed 42, Colab GPU, early stopping on validation macro-F1 (max 30 epochs).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Six runs: 2 models × 3 training fractions.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01445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tx2"/>
                </a:solidFill>
              </a:rPr>
              <a:t>Both models reach 99.4–99.7% accuracy; ResNet-18 does so at a fraction of the cost.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979401"/>
              </p:ext>
            </p:extLst>
          </p:nvPr>
        </p:nvGraphicFramePr>
        <p:xfrm>
          <a:off x="457200" y="1737360"/>
          <a:ext cx="5486400" cy="24323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Train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Acc.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F1 %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Recall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Train (s)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Infer (ms)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ResNet-18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99.72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99.56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ResNet-18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99.58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99.55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99.34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ResNet-18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99.72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99.56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ViT-B/16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99.72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99.78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1781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ViT-B/16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99.44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99.40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99.56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1534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12.27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ViT-B/16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99.44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99.40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99.34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534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12.41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63640" y="184839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Observations: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214154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ResNet-18 slightly ahead at 50% and 25% data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Inference: 0.9 ms vs 12 ms per image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Model size: 43 MB vs 327 MB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1–3 missed defects per run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504879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Demonstration</a:t>
            </a:r>
            <a:endParaRPr lang="en-US" sz="3200" dirty="0"/>
          </a:p>
        </p:txBody>
      </p:sp>
      <p:sp>
        <p:nvSpPr>
          <p:cNvPr id="3" name="Screenshot border"/>
          <p:cNvSpPr/>
          <p:nvPr/>
        </p:nvSpPr>
        <p:spPr>
          <a:xfrm>
            <a:off x="411480" y="1234440"/>
            <a:ext cx="4937760" cy="2459736"/>
          </a:xfrm>
          <a:prstGeom prst="rect">
            <a:avLst/>
          </a:prstGeom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" name="Image 0" descr="Streamlit live demo classifying an impeller as defect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4846320" cy="23682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94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</a:rPr>
              <a:t>Live demo: ResNet-18 classifies an uploaded impeller as defective (100.0%).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4173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Built on the same trained checkpoints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Upload an image to get class scores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Grad-CAM overlay shows the regions behind a ResNet decision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Results page reads comparison_table.csv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3840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streamlit_app.py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2"/>
                </a:solidFill>
              </a:rPr>
              <a:t>(runs locally)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Challenges, limitations and future scope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8263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Challenges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939834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Re-uploading repo and data on every Colab session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Writing metrics to CSV reliably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Grad-CAM batch dimensions in Streamlit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Fitting ViT at 100% into Colab time limits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8263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939834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One product type and lighting setup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Near-ceiling scores suggest an easy task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Single seed (42)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Human review still needed on the line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48263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Future scope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939834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Multiple seeds; report mean ± std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Edge test with a quantised ResNet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ViT attention maps beside Grad-CAM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New site or partner dataset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ResNet-18 is the practical choice when labels or hardware are limited.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ViT-B/16 remains viable with full data and GPU capacity.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6007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 welcome.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in Mono">
  <a:themeElements>
    <a:clrScheme name="Plain Mono">
      <a:dk1>
        <a:srgbClr val="000000"/>
      </a:dk1>
      <a:lt1>
        <a:srgbClr val="FFFFFF"/>
      </a:lt1>
      <a:dk2>
        <a:srgbClr val="404040"/>
      </a:dk2>
      <a:lt2>
        <a:srgbClr val="F2F2F2"/>
      </a:lt2>
      <a:accent1>
        <a:srgbClr val="262626"/>
      </a:accent1>
      <a:accent2>
        <a:srgbClr val="595959"/>
      </a:accent2>
      <a:accent3>
        <a:srgbClr val="7F7F7F"/>
      </a:accent3>
      <a:accent4>
        <a:srgbClr val="A6A6A6"/>
      </a:accent4>
      <a:accent5>
        <a:srgbClr val="BFBFBF"/>
      </a:accent5>
      <a:accent6>
        <a:srgbClr val="D9D9D9"/>
      </a:accent6>
      <a:hlink>
        <a:srgbClr val="404040"/>
      </a:hlink>
      <a:folHlink>
        <a:srgbClr val="595959"/>
      </a:folHlink>
    </a:clrScheme>
    <a:fontScheme name="Plain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863</Words>
  <Application>Microsoft Office PowerPoint</Application>
  <PresentationFormat>On-screen Show (16:9)</PresentationFormat>
  <Paragraphs>128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Plain Mono</vt:lpstr>
      <vt:lpstr>Data-Efficient Visual Quality Inspection</vt:lpstr>
      <vt:lpstr>Problem statement</vt:lpstr>
      <vt:lpstr>Dataset and Methodology</vt:lpstr>
      <vt:lpstr>Results</vt:lpstr>
      <vt:lpstr>Demonstration</vt:lpstr>
      <vt:lpstr>Challenges, limitations and future scope</vt:lpstr>
      <vt:lpstr>Conclusion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Data-Efficient Visual Quality Inspection</dc:title>
  <dc:subject>PptxGenJS Presentation</dc:subject>
  <dc:creator>Anshika Reddy Annapureddy</dc:creator>
  <cp:lastModifiedBy>Anshika Reddy</cp:lastModifiedBy>
  <cp:revision>2</cp:revision>
  <dcterms:created xsi:type="dcterms:W3CDTF">2026-10-25T07:37:19Z</dcterms:created>
  <dcterms:modified xsi:type="dcterms:W3CDTF">2026-10-25T08:10:39Z</dcterms:modified>
</cp:coreProperties>
</file>